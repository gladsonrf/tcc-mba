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852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[~15 s] Bom dia. Sou o Gladson e vou apresentar o pré-projeto do meu TCC: a previsão do preço de importação de fertilizantes no Brasil, usando modelos estatísticos e de machine learning com indicadores de risco geopolítico e de mercado. No final, apresento também o tema alternativo.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 s] Em resumo: é um relatório analítico com pergunta preditiva. Quero prever o preço médio que o Brasil paga para importar fertilizantes, de um a três meses à frente. Todos os dados são públicos: ComexStat, Pink Sheet do Banco Mundial, o Índice de Risco Geopolítico e o câmbio do Banco Central. Vou comparar modelos clássicos de séries temporais com regressão regularizada, gradient boosting e uma rede neural LSTM, sempre com validação temporal. A decisão que o trabalho apoia é simples: quando e quanto comprar fertilizante.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[~45 s] Por que esse tema? O Brasil importou 88% dos fertilizantes que consumiu em 2025: foram 43 milhões de toneladas, um recorde, e desde 2024 somos o maior importador do mundo. Os fornecedores estão em regiões instáveis. Pelos dados do ComexStat, quase um quarto do volume importado em 2025 veio da Rússia. E até 30% dos embarques globais de fertilizantes passaram pelo Estreito de Ormuz em 2024. Em quatro anos tivemos dois choques: a guerra Rússia–Ucrânia, em 2022, e agora, em 2026, o conflito no Oriente Médio com restrições em Ormuz.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[~50 s] Esta é uma primeira leitura dos dados que já baixei. A linha azul é o preço médio de importação de nitrogenados no Brasil; a laranja, de potássicos; a tracejada cinza, o preço internacional da ureia. Em 2022, o potássio importado saiu de cerca de 325 dólares por tonelada, na média de 2019, para 870 em julho de 2022. Em 2026, com Ormuz, a ureia internacional disparou de novo, e os nitrogenados importados subiram 45% entre janeiro e junho. Um ponto importante para o projeto: as variações do preço brasileiro se correlacionam mais com as do preço internacional de um a dois meses antes. É essa janela que pode ser aproveitada para prever, e por isso escolhi horizontes de um a três meses.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s] O que já se sabe: o Brasil importa quase todo o fertilizante que usa, o preço internacional reage forte e rápido a choques geopolíticos e ao custo de energia, principalmente gás natural, e o preço que pagamos acompanha o internacional com alguma defasagem. O problema: a compra de fertilizante é decidida com meses de antecedência por cooperativas, revendas e produtores, em geral sem previsão quantitativa. Comprar no pico de um choque encarece a safra inteira. E falta avaliar se informações de risco geopolítico e de mercado realmente ajudam a prever o preço de importação brasileiro.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s] A pergunta é: é possível prever, com um a três meses de antecedência e erro menor que o de modelos ingênuos, o preço de importação de fertilizantes no Brasil usando indicadores de risco geopolítico e de mercado? A resposta terá a forma de uma tabela de erros por modelo, por horizonte e por grupo de fertilizante, e da comparação entre previsto e realizado nos choques de 2022 e 2026. O que não sei de antemão: se o risco geopolítico melhora a previsão e se machine learning e LSTM superam os modelos clássicos numa série relativamente </a:t>
            </a:r>
            <a:r>
              <a:rPr lang="en-US" dirty="0" err="1"/>
              <a:t>curta</a:t>
            </a:r>
            <a:r>
              <a:rPr lang="en-US" dirty="0"/>
              <a:t>.</a:t>
            </a:r>
          </a:p>
          <a:p>
            <a:r>
              <a:rPr lang="en-US" dirty="0"/>
              <a:t>]</a:t>
            </a:r>
          </a:p>
          <a:p>
            <a:r>
              <a:rPr lang="en-US" dirty="0"/>
              <a:t>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temos</a:t>
            </a:r>
            <a:r>
              <a:rPr lang="en-US" dirty="0"/>
              <a:t> q </a:t>
            </a:r>
            <a:r>
              <a:rPr lang="en-US" dirty="0" err="1"/>
              <a:t>ver</a:t>
            </a:r>
            <a:r>
              <a:rPr lang="en-US" dirty="0"/>
              <a:t> </a:t>
            </a:r>
            <a:r>
              <a:rPr lang="en-US" dirty="0" err="1"/>
              <a:t>Periodo</a:t>
            </a:r>
            <a:r>
              <a:rPr lang="en-US" dirty="0"/>
              <a:t> de </a:t>
            </a:r>
            <a:r>
              <a:rPr lang="en-US" dirty="0" err="1"/>
              <a:t>safra</a:t>
            </a:r>
            <a:r>
              <a:rPr lang="en-US" dirty="0"/>
              <a:t> e </a:t>
            </a:r>
            <a:r>
              <a:rPr lang="en-US" dirty="0" err="1"/>
              <a:t>entresafra</a:t>
            </a:r>
            <a:r>
              <a:rPr lang="en-US" dirty="0"/>
              <a:t> – </a:t>
            </a:r>
            <a:r>
              <a:rPr lang="en-US" dirty="0" err="1"/>
              <a:t>nopre</a:t>
            </a:r>
            <a:r>
              <a:rPr lang="en-US" dirty="0"/>
              <a:t> </a:t>
            </a:r>
            <a:r>
              <a:rPr lang="en-US" dirty="0" err="1"/>
              <a:t>plantio</a:t>
            </a:r>
            <a:r>
              <a:rPr lang="en-US" dirty="0"/>
              <a:t> </a:t>
            </a:r>
            <a:r>
              <a:rPr lang="en-US" dirty="0" err="1"/>
              <a:t>comprar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fertilizantes</a:t>
            </a:r>
            <a:endParaRPr lang="en-US" dirty="0"/>
          </a:p>
          <a:p>
            <a:r>
              <a:rPr lang="en-US" dirty="0" err="1"/>
              <a:t>Isso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ta </a:t>
            </a:r>
            <a:r>
              <a:rPr lang="en-US" dirty="0" err="1"/>
              <a:t>correlacionado</a:t>
            </a:r>
            <a:r>
              <a:rPr lang="en-US" dirty="0"/>
              <a:t> no period pre </a:t>
            </a:r>
            <a:r>
              <a:rPr lang="en-US" dirty="0" err="1"/>
              <a:t>plantio</a:t>
            </a:r>
            <a:endParaRPr lang="en-US" dirty="0"/>
          </a:p>
          <a:p>
            <a:endParaRPr lang="en-US" dirty="0"/>
          </a:p>
          <a:p>
            <a:r>
              <a:rPr lang="en-US" dirty="0"/>
              <a:t>São </a:t>
            </a:r>
            <a:r>
              <a:rPr lang="en-US" dirty="0" err="1"/>
              <a:t>varios</a:t>
            </a:r>
            <a:r>
              <a:rPr lang="en-US" dirty="0"/>
              <a:t> </a:t>
            </a:r>
            <a:r>
              <a:rPr lang="en-US" dirty="0" err="1"/>
              <a:t>produtos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exigir</a:t>
            </a:r>
            <a:r>
              <a:rPr lang="en-US" dirty="0"/>
              <a:t> </a:t>
            </a:r>
            <a:r>
              <a:rPr lang="en-US" dirty="0" err="1"/>
              <a:t>compra</a:t>
            </a:r>
            <a:r>
              <a:rPr lang="en-US" dirty="0"/>
              <a:t> de </a:t>
            </a:r>
            <a:r>
              <a:rPr lang="en-US" dirty="0" err="1"/>
              <a:t>fertilizantes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Delimitar</a:t>
            </a:r>
            <a:r>
              <a:rPr lang="en-US" dirty="0"/>
              <a:t> </a:t>
            </a:r>
            <a:r>
              <a:rPr lang="en-US" dirty="0" err="1"/>
              <a:t>produtos</a:t>
            </a:r>
            <a:r>
              <a:rPr lang="en-US" dirty="0"/>
              <a:t> do </a:t>
            </a:r>
            <a:r>
              <a:rPr lang="en-US" dirty="0" err="1"/>
              <a:t>agronegocio</a:t>
            </a:r>
            <a:r>
              <a:rPr lang="en-US" dirty="0"/>
              <a:t> – </a:t>
            </a:r>
            <a:r>
              <a:rPr lang="en-US" dirty="0" err="1"/>
              <a:t>olhar</a:t>
            </a:r>
            <a:r>
              <a:rPr lang="en-US" dirty="0"/>
              <a:t> no </a:t>
            </a:r>
            <a:r>
              <a:rPr lang="en-US" dirty="0" err="1"/>
              <a:t>comex</a:t>
            </a:r>
            <a:r>
              <a:rPr lang="en-US" dirty="0"/>
              <a:t> </a:t>
            </a:r>
            <a:r>
              <a:rPr lang="en-US" dirty="0" err="1"/>
              <a:t>peridos</a:t>
            </a:r>
            <a:r>
              <a:rPr lang="en-US" dirty="0"/>
              <a:t> q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paltasd</a:t>
            </a:r>
            <a:r>
              <a:rPr lang="en-US" dirty="0"/>
              <a:t> no </a:t>
            </a:r>
            <a:r>
              <a:rPr lang="en-US" dirty="0" err="1"/>
              <a:t>agronegocio</a:t>
            </a:r>
            <a:endParaRPr lang="en-US" dirty="0"/>
          </a:p>
          <a:p>
            <a:endParaRPr lang="en-US" dirty="0"/>
          </a:p>
          <a:p>
            <a:r>
              <a:rPr lang="en-US" dirty="0"/>
              <a:t>Soja ter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planilha</a:t>
            </a:r>
            <a:r>
              <a:rPr lang="en-US" dirty="0"/>
              <a:t> de </a:t>
            </a:r>
            <a:r>
              <a:rPr lang="en-US" dirty="0" err="1"/>
              <a:t>produtos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trablahar</a:t>
            </a:r>
            <a:r>
              <a:rPr lang="en-US" dirty="0"/>
              <a:t> com </a:t>
            </a:r>
            <a:r>
              <a:rPr lang="en-US" dirty="0" err="1"/>
              <a:t>essas</a:t>
            </a:r>
            <a:r>
              <a:rPr lang="en-US" dirty="0"/>
              <a:t> </a:t>
            </a:r>
            <a:r>
              <a:rPr lang="en-US" dirty="0" err="1"/>
              <a:t>informações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s] O objetivo geral é desenvolver e avaliar modelos de previsão do preço de importação de fertilizantes, de um a três meses à frente. Para isso, vou construir as séries mensais por grupo de fertilizante desde 1997, descrever a dinâmica dos preços, comparar os modelos contra baselines com validação temporal, avaliar o desempenho especificamente nos choques e discutir como usar as previsões na decisão de compra. Duas hipóteses: primeiro, modelos com risco geopolítico e preços internacionais erram menos que os baselines; segundo, esse ganho é maior justamente nos períodos de choque, que é quando a previsão mais </a:t>
            </a:r>
            <a:r>
              <a:rPr lang="en-US" dirty="0" err="1"/>
              <a:t>importa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Incluir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pdotus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solber</a:t>
            </a:r>
            <a:r>
              <a:rPr lang="en-US" dirty="0"/>
              <a:t> o period de </a:t>
            </a:r>
            <a:r>
              <a:rPr lang="en-US" dirty="0" err="1"/>
              <a:t>plantio</a:t>
            </a:r>
            <a:r>
              <a:rPr lang="en-US" dirty="0"/>
              <a:t> </a:t>
            </a:r>
            <a:r>
              <a:rPr lang="en-US" dirty="0" err="1"/>
              <a:t>poderiamos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 s] Quem usa esse resultado? Cooperativas e revendas, para decidir quando e quanto comprar e quanto estocar; produtores, para decidir o momento de travar o custo da safra; importadores e tradings, para contratos a termo e proteção de preço; e o crédito rural, para dimensionar o custeio. A decisão é de momento de compra: se a previsão antecipa a alta, compensa antecipar a compra. Se nenhum modelo superar o ingênuo, isso também é uma informação </a:t>
            </a:r>
            <a:r>
              <a:rPr lang="en-US" dirty="0" err="1"/>
              <a:t>útil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Insituições</a:t>
            </a:r>
            <a:r>
              <a:rPr lang="en-US" dirty="0"/>
              <a:t> plano </a:t>
            </a:r>
            <a:r>
              <a:rPr lang="en-US" dirty="0" err="1"/>
              <a:t>safra</a:t>
            </a:r>
            <a:endParaRPr lang="en-US" dirty="0"/>
          </a:p>
          <a:p>
            <a:r>
              <a:rPr lang="en-US" dirty="0" err="1"/>
              <a:t>Politica</a:t>
            </a:r>
            <a:r>
              <a:rPr lang="en-US" dirty="0"/>
              <a:t> de plano de </a:t>
            </a:r>
            <a:r>
              <a:rPr lang="en-US" dirty="0" err="1"/>
              <a:t>safra</a:t>
            </a:r>
            <a:r>
              <a:rPr lang="en-US" dirty="0"/>
              <a:t> – policy makers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fazem</a:t>
            </a:r>
            <a:r>
              <a:rPr lang="en-US" dirty="0"/>
              <a:t> o plano </a:t>
            </a:r>
            <a:r>
              <a:rPr lang="en-US" dirty="0" err="1"/>
              <a:t>safra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s] Na literatura, Kim e Brorsen previram o preço da ureia com um modelo autorregressivo com variáveis exógenas, que será minha referência. Hu e coautores mostram o papel da energia, da oferta e da especulação nos picos de preço. Caldara e Iacoviello criaram o índice de risco geopolítico, que é mensal e público. Os trabalhos de Colussi dão o contexto brasileiro. E dois estudos calibram a expectativa: Makridakis mostra que modelos simples são difíceis de bater em séries temporais, e Grinsztajn mostra que árvores costumam superar redes neurais em dados tabulares. A lacuna: na revisão inicial não encontrei previsões do preço de importação brasileiro que integrem risco geopolítico e comparem modelos estatísticos e de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s] Os dados vêm de quatro fontes públicas. Do ComexStat tiro as importações mensais por NCM, nitrogenados, potássicos e NPK, com valor FOB e peso. Dividindo um pelo outro, tenho o preço médio em dólares por tonelada. Do Banco Mundial vêm os preços internacionais e o gás natural; de Caldara e Iacoviello, o índice de risco geopolítico; e do Banco Central, o câmbio. A unidade é grupo de fertilizante por mês, de janeiro de 1997 a agosto de 2026: são 356 meses para cada uma das três séries. Não há dados pessoais, e as duas bases principais já estão baixadas.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 s] A variável-alvo é o preço médio de importação: valor FOB dividido pelo peso, por grupo e mês. As preditoras são as defasagens do próprio preço, os preços internacionais, o gás natural e o petróleo, o câmbio, o índice de risco geopolítico e a sazonalidade da safra. Pontos de atenção: o preço médio mistura produtos e origens; a série é curta; há quebras estruturais; e, principalmente, não pode haver vazamento. Cada previsão só usa informação que estaria disponível na data em que ela seria </a:t>
            </a:r>
            <a:r>
              <a:rPr lang="en-US" dirty="0" err="1"/>
              <a:t>feita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[~45 s] O plano segue sete etapas: coleta com script versionado, exploração das séries, preparação com logaritmos e defasagens, modelagem, validação, resultados e discussão. Os baselines são o ingênuo, que repete o último valor, o ingênuo sazonal e o SARIMA, e todo modelo precisa superá-los para ser útil. Os candidatos são o SARIMAX com variáveis exógenas defasadas, LASSO, gradient boosting e uma LSTM como comparação. Como a pergunta é preditiva, o critério de sucesso é o erro fora da amostra, e não a significância de coeficientes. Tudo será feito em Python, com repositório no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[~45 s] A validação imita o uso real. Com a origem móvel, treino o modelo até o mês t e prevejo t+1, t+2 e t+3; depois avanço um mês e repito. Assim, o teste nunca usa dado do futuro. As métricas são MAE, RMSE e MAPE por horizonte, com o teste de Diebold–Mariano para ver se a diferença entre modelos é significativa, e um recorte específico para os choques. O critério de sucesso é ter erro menor que o do ingênuo em pelo menos um horizonte. Se nenhum modelo superar o ingênuo, esse será o resultado relatado. Os produtos são a tabela comparativa, a análise dos choques, um painel simples e o repositório.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 s] As principais limitações: a série é curta, então redes neurais podem sobreajustar, e vou tratar isso com regularização e baselines simples; os choques são raros, então avalio o desempenho neles separadamente; o preço médio agrega produtos e origens, então faço robustez com NCMs específicas, como ureia e cloreto de potássio. Previsão não é causalidade: a importância das variáveis é só preditiva. O risco de execução é baixo, porque os dados já estão em mãos.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[~20 s] O cronograma tem dez semanas, contadas a partir do início da orientação. São três entregas: o relatório de viabilidade dos dados na semana 3, a versão para qualificação na semana 8 e a versão final na semana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[~45 s] Como tema alternativo, proponho uma pergunta causal: o Pé-de-Meia reduziu o abandono no ensino médio público, e o efeito é maior onde há mais estudantes elegíveis? O tratamento é a intensidade de exposição de cada município, medida antes de 2024 pela proporção de famílias elegíveis no CadÚnico. O desfecho é a taxa de abandono do INEP. O método é uma diferença-em-diferenças com tratamento contínuo e estudo de evento. Os dados são todos públicos. Um detalhe: o Portal da Transparência publica os pagamentos por município, e não por escola, por isso a análise é municipal. Os riscos são o Novo Ensino Médio e o pós-pandemia acontecendo ao mesmo tempo, e o número ainda pequeno de anos após o início do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[~10 s] Essas são as referências. Obrigado; fico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975364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F2D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99264"/>
            <a:ext cx="10566400" cy="434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975364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F2D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99264"/>
            <a:ext cx="10566400" cy="434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76200" cy="4216400"/>
          </a:xfrm>
          <a:prstGeom prst="rect">
            <a:avLst/>
          </a:prstGeom>
          <a:solidFill>
            <a:srgbClr val="2D6FB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7600" y="1596152"/>
            <a:ext cx="10569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PRÉ-PROJETO DE TCC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1117600" y="2099072"/>
            <a:ext cx="9810750" cy="123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752"/>
              </a:lnSpc>
              <a:buNone/>
            </a:pPr>
            <a:r>
              <a:rPr lang="en-US" sz="4400" b="1" i="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Previsão do preço de importação de fertilizantes no Brasil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117600" y="3560048"/>
            <a:ext cx="9156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Modelos estatísticos e de machine learning com indicadores de risco geopolítico e de mercado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7600" y="4474448"/>
            <a:ext cx="1056944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Gladson  |  Orientador: Edward Costa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7600" y="4809728"/>
            <a:ext cx="10569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MBA em Ciência de Dados Aplicada a Negócios · Universidade Federal do Ceará (UFC) · Outubro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CARACTERIZAÇÃO DO PROJETO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7536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Um projeto preditivo, com dados públicos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76025" y="1623060"/>
            <a:ext cx="0" cy="333248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12800" y="4952365"/>
            <a:ext cx="10566400" cy="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33220"/>
          <a:ext cx="10551160" cy="3317240"/>
        </p:xfrm>
        <a:graphic>
          <a:graphicData uri="http://schemas.openxmlformats.org/drawingml/2006/table">
            <a:tbl>
              <a:tblPr/>
              <a:tblGrid>
                <a:gridCol w="2743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7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Definição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Título provisório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Previsão do preço de importação de fertilizantes no Brasil com indicadores de risco geopolítico e de mercado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Variante do relatório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Relatório analítico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Tipo de pergunta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Preditiva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Área temática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Agronegócio, insumos agrícolas e comércio exterior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Dados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ComexStat/MDIC, Pink Sheet (Banco Mundial), Índice de Risco Geopolítico e câmbio (BCB): todos públicos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Métodos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Séries temporais (SARIMA/SARIMAX), LASSO, gradient boosting e LSTM, com validação temporal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Decisão apoiada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Quando e quanto comprar fertilizantes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518414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Este é um projeto: descreve o que será feito. Ainda não há resultados.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41"/>
            <a:ext cx="8502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Pré-projeto de TCC · Gladson · MBA em Ciência de Dados Aplicada a Negócios (UFC)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66400" y="6238241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CONTEXTUALIZAÇÃO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753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agro brasileiro depende de fertilizante importado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99261"/>
            <a:ext cx="2527300" cy="2016760"/>
          </a:xfrm>
          <a:prstGeom prst="roundRect">
            <a:avLst>
              <a:gd name="adj" fmla="val 5038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41400" y="1927861"/>
            <a:ext cx="213220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2D6FB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88%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41400" y="2562861"/>
            <a:ext cx="2132203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consumo de fertilizantes no Brasil foi importado em 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92500" y="1699261"/>
            <a:ext cx="2527300" cy="2016760"/>
          </a:xfrm>
          <a:prstGeom prst="roundRect">
            <a:avLst>
              <a:gd name="adj" fmla="val 5038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721100" y="1927861"/>
            <a:ext cx="213220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2D6FB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43,3 Mt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721100" y="2562861"/>
            <a:ext cx="2132203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importadas em 2025, recorde; o Brasil é o maior importador mundial desde 2024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699261"/>
            <a:ext cx="2527300" cy="2016760"/>
          </a:xfrm>
          <a:prstGeom prst="roundRect">
            <a:avLst>
              <a:gd name="adj" fmla="val 5038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0" y="1927861"/>
            <a:ext cx="213220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C96A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24%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0" y="2562861"/>
            <a:ext cx="213220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volume importado em 2025 veio da Rússia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51900" y="1699261"/>
            <a:ext cx="2527300" cy="2016760"/>
          </a:xfrm>
          <a:prstGeom prst="roundRect">
            <a:avLst>
              <a:gd name="adj" fmla="val 5038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080500" y="1927861"/>
            <a:ext cx="213220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C96A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30%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080500" y="2562861"/>
            <a:ext cx="2132203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embarques globais de fertilizantes passaram pelo Estreito de Ormuz em 2024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020820"/>
            <a:ext cx="981075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Dois choques geopolíticos em quatro anos: a guerra Rússia–Ucrânia (2022) e o conflito no Oriente Médio com restrições em Ormuz (2026).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1"/>
            <a:ext cx="94837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Fontes: Colussi e Langemeier (2026); ComexStat/MDIC, cap. 31, 2025 (participação da Rússia, em peso).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00" y="6238241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PRIMEIRA LEITURA DOS DADOS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753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Os choques chegam ao preço que o Brasil paga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34491"/>
            <a:ext cx="304800" cy="38100"/>
          </a:xfrm>
          <a:prstGeom prst="roundRect">
            <a:avLst>
              <a:gd name="adj" fmla="val 50000"/>
            </a:avLst>
          </a:prstGeom>
          <a:solidFill>
            <a:srgbClr val="2D6FB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20800" y="1546861"/>
            <a:ext cx="2489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Brasil: nitrogenados (importação)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10000" y="1634491"/>
            <a:ext cx="304800" cy="38100"/>
          </a:xfrm>
          <a:prstGeom prst="roundRect">
            <a:avLst>
              <a:gd name="adj" fmla="val 50000"/>
            </a:avLst>
          </a:prstGeom>
          <a:solidFill>
            <a:srgbClr val="C96A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318000" y="1546861"/>
            <a:ext cx="23210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Brasil: potássicos (importação)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39005" y="1653541"/>
            <a:ext cx="304800" cy="0"/>
          </a:xfrm>
          <a:prstGeom prst="line">
            <a:avLst/>
          </a:prstGeom>
          <a:noFill/>
          <a:ln w="25400">
            <a:solidFill>
              <a:srgbClr val="8A94A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47005" y="1546861"/>
            <a:ext cx="21132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Ureia: preço internacional</a:t>
            </a:r>
            <a:endParaRPr lang="en-US" sz="1200" dirty="0"/>
          </a:p>
        </p:txBody>
      </p:sp>
      <p:pic>
        <p:nvPicPr>
          <p:cNvPr id="10" name="Image 0" descr="Linhas mensais de 2015 a agosto de 2026, em US$ por tonelada: preço médio de importação brasileiro de nitrogenados e de potássicos e preço internacional da ureia. Picos em 2022 e alta em 2026.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1320800" y="1905000"/>
            <a:ext cx="6985000" cy="330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2000" y="1924050"/>
            <a:ext cx="508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1.000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2000" y="2686050"/>
            <a:ext cx="508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750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2000" y="3448050"/>
            <a:ext cx="508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2000" y="4210050"/>
            <a:ext cx="508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2000" y="4972050"/>
            <a:ext cx="508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231900" y="5207000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2015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14650" y="5207000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2018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38750" y="5207000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562850" y="5207000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57422" y="1905000"/>
            <a:ext cx="1805178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44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Guerra Rússia–Ucrânia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99200" y="1905000"/>
            <a:ext cx="15875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44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Ormuz (2026)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737600" y="1905000"/>
            <a:ext cx="27208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US$ por tonelada, mensal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737600" y="2270761"/>
            <a:ext cx="2720848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2022:</a:t>
            </a: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potássicos foram de US$ 325/t (média 2019) a </a:t>
            </a:r>
            <a:r>
              <a:rPr lang="en-US" sz="14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US$ 870/t</a:t>
            </a: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em jul/2022.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737600" y="3116580"/>
            <a:ext cx="27208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2026:</a:t>
            </a: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nitrogenados subiram </a:t>
            </a:r>
            <a:r>
              <a:rPr lang="en-US" sz="14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45%</a:t>
            </a: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entre janeiro e junho.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737600" y="3731261"/>
            <a:ext cx="2720848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variações do preço brasileiro se correlacionam mais com as do preço internacional de </a:t>
            </a:r>
            <a:r>
              <a:rPr lang="en-US" sz="14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a 2 meses antes</a:t>
            </a: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12800" y="6238239"/>
            <a:ext cx="94837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Fontes: ComexStat/MDIC (NCM 3102 e 3104, FOB/peso); Banco Mundial, Pink Sheet (out/2026). Elaboração própria.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753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 compra é decidida meses antes, sem previsão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48461"/>
            <a:ext cx="5181600" cy="2971800"/>
          </a:xfrm>
          <a:prstGeom prst="roundRect">
            <a:avLst>
              <a:gd name="adj" fmla="val 3419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92200" y="1927861"/>
            <a:ext cx="476148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já se sabe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2329182"/>
            <a:ext cx="4675632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Brasil importa quase todo o fertilizante que usa.</a:t>
            </a:r>
            <a:endParaRPr lang="en-US" sz="1400" dirty="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preço internacional reage forte e rápido a choques geopolíticos e ao custo de energia (gás natural).</a:t>
            </a:r>
            <a:endParaRPr lang="en-US" sz="1400" dirty="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preço que o Brasil paga acompanha o internacional com alguma defasagem.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3950" y="1654811"/>
            <a:ext cx="5168900" cy="2959100"/>
          </a:xfrm>
          <a:prstGeom prst="roundRect">
            <a:avLst>
              <a:gd name="adj" fmla="val 3219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87160" y="1938021"/>
            <a:ext cx="474055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96A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65392" y="2339339"/>
            <a:ext cx="4654702" cy="2016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Cooperativas, revendas e produtores compram com meses de antecedência, em geral sem uma previsão quantitativa.</a:t>
            </a:r>
            <a:endParaRPr lang="en-US" sz="1400" dirty="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Comprar no pico de um choque eleva o custo da safra inteira.</a:t>
            </a:r>
            <a:endParaRPr lang="en-US" sz="1400" dirty="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Falta avaliar se o risco geopolítico e o mercado internacional ajudam a prever o preço de importação brasileiro.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39"/>
            <a:ext cx="94837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Kim e Brorsen (2017); Hu et al. (2023); Colussi e Langemeier (2026).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PERGUNTA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38200" y="1178561"/>
            <a:ext cx="0" cy="1752600"/>
          </a:xfrm>
          <a:prstGeom prst="line">
            <a:avLst/>
          </a:prstGeom>
          <a:noFill/>
          <a:ln w="50800">
            <a:solidFill>
              <a:srgbClr val="2D6FB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117600" y="1229361"/>
            <a:ext cx="10150856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É possível prever, com 1 a 3 meses de antecedência e erro menor que o de modelos ingênuos, o preço de importação de fertilizantes no Brasil usando indicadores de risco geopolítico e de mercado?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12800" y="3185161"/>
            <a:ext cx="5181600" cy="1546860"/>
          </a:xfrm>
          <a:prstGeom prst="roundRect">
            <a:avLst>
              <a:gd name="adj" fmla="val 6568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66800" y="3439161"/>
            <a:ext cx="481380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 da resposta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2144" y="3784600"/>
            <a:ext cx="4720844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Tabela de erros por modelo, horizonte (1, 2, 3 meses) e grupo de fertilizante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Previsto × realizado nos choques de 2022 e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7600" y="3185161"/>
            <a:ext cx="5181600" cy="1546860"/>
          </a:xfrm>
          <a:prstGeom prst="roundRect">
            <a:avLst>
              <a:gd name="adj" fmla="val 6568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51600" y="3439161"/>
            <a:ext cx="481380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não se sabe de antemão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6944" y="3784600"/>
            <a:ext cx="4720844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o risco geopolítico melhora a previsão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ML e LSTM superam os modelos clássicos numa série curta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OBJETIVOS E HIPÓTESES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753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Prever, comparar e testar nos choques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61"/>
            <a:ext cx="628632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Geral:</a:t>
            </a:r>
            <a:r>
              <a:rPr lang="en-US" sz="14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desenvolver e avaliar modelos de previsão do preço de importação de fertilizantes no Brasil, 1 a 3 meses à frente.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230121"/>
            <a:ext cx="628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Específicos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3841" y="2606039"/>
            <a:ext cx="6207659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959" indent="-182959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Construir séries mensais de preço (US$/t) por grupo de fertilizante, 1997–2026.</a:t>
            </a:r>
            <a:endParaRPr lang="en-US" sz="1300" dirty="0"/>
          </a:p>
          <a:p>
            <a:pPr marL="182959" indent="-182959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Descrever a dinâmica dos preços e sua relação com choques e preços internacionais.</a:t>
            </a:r>
            <a:endParaRPr lang="en-US" sz="1300" dirty="0"/>
          </a:p>
          <a:p>
            <a:pPr marL="182959" indent="-182959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Comparar modelos estatísticos e de ML contra baselines, com validação temporal.</a:t>
            </a:r>
            <a:endParaRPr lang="en-US" sz="1300" dirty="0"/>
          </a:p>
          <a:p>
            <a:pPr marL="182959" indent="-182959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Avaliar o desempenho nos choques de 2021–2022 e 2026.</a:t>
            </a:r>
            <a:endParaRPr lang="en-US" sz="1300" dirty="0"/>
          </a:p>
          <a:p>
            <a:pPr marL="182959" indent="-182959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Discutir o uso das previsões na decisão de compra.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70024" y="1623061"/>
            <a:ext cx="4209177" cy="1470660"/>
          </a:xfrm>
          <a:prstGeom prst="roundRect">
            <a:avLst>
              <a:gd name="adj" fmla="val 6908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398624" y="1851661"/>
            <a:ext cx="386453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Hipótese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98624" y="2171700"/>
            <a:ext cx="386453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Modelos com risco geopolítico e preços internacionais têm erro menor que os baselines nos três horizontes.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70024" y="3246121"/>
            <a:ext cx="4209177" cy="1239520"/>
          </a:xfrm>
          <a:prstGeom prst="roundRect">
            <a:avLst>
              <a:gd name="adj" fmla="val 8197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98624" y="3474721"/>
            <a:ext cx="386453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Hipótese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98624" y="3794761"/>
            <a:ext cx="38645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ganho é maior nos períodos de choque do que nos períodos normais.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JUSTIFICATIVA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753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 previsão apoia uma decisão de momento de compra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76025" y="1648461"/>
            <a:ext cx="0" cy="193294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12800" y="3578226"/>
            <a:ext cx="10566400" cy="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58621"/>
          <a:ext cx="10551160" cy="1917700"/>
        </p:xfrm>
        <a:graphic>
          <a:graphicData uri="http://schemas.openxmlformats.org/drawingml/2006/table">
            <a:tbl>
              <a:tblPr/>
              <a:tblGrid>
                <a:gridCol w="3798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2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Quem decide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Decisão que o resultado informa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Cooperativas e revendas de insumos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Quando e quanto comprar antecipadamente; nível de estoque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Produtores rurais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Momento de fechar a compra e travar o custo da safra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Importadores e tradings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Contratos a termo, proteção de preço (hedge) e logística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Instituições de crédito rural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Dimensionar o custeio diante da alta dos insumos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31850" y="3835400"/>
            <a:ext cx="0" cy="565150"/>
          </a:xfrm>
          <a:prstGeom prst="line">
            <a:avLst/>
          </a:prstGeom>
          <a:noFill/>
          <a:ln w="38100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051560" y="3860800"/>
            <a:ext cx="956482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a previsão antecipa a alta, compensa antecipar a compra; se não supera o modelo ingênuo, a decisão continua sendo tomada sem informação adicional.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EVIDÊNCIAS NA LITERATURA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753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que a literatura oferece ao projeto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76025" y="1597664"/>
            <a:ext cx="0" cy="318008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12800" y="4774569"/>
            <a:ext cx="10566400" cy="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7824"/>
          <a:ext cx="10551160" cy="3164840"/>
        </p:xfrm>
        <a:graphic>
          <a:graphicData uri="http://schemas.openxmlformats.org/drawingml/2006/table">
            <a:tbl>
              <a:tblPr/>
              <a:tblGrid>
                <a:gridCol w="3165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1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3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Estudo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Abordagem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que interessa ao projeto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Kim e Brorsen (2017)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Previsão do preço da ureia (ARX)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Modelo com exógenas como referência; combinar previsões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Hu et al. (2023)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Picos de preço da ureia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Energia, oferta-demanda e especulação como preditores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Caldara e Iacoviello (2022)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Índice de risco geopolítico (GPR)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Medida mensal e pública de choques geopolíticos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Colussi et al. (2022); Colussi e Langemeier (2026)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Dependência brasileira e choques de 2022 e 2026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Contexto e exposição por origem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Makridakis, Spiliotis e Assimakopoulos (2018)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ML × estatística em séries temporais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Modelos simples são baseline difícil de bater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Grinsztajn, Oyallon e Varoquaux (2022)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Árvores × redes neurais em dados tabulares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Expectativa realista para a LSTM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4980942"/>
            <a:ext cx="10464800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Lacuna:</a:t>
            </a: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na revisão inicial, não foram encontradas previsões do preço de importação brasileiro que integrem risco geopolítico e comparem modelos estatísticos e de ML.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DADOS: FONTES, ACESSO E CARACTERIZAÇÃO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753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Quatro fontes públicas, já acessíveis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76025" y="1597664"/>
            <a:ext cx="0" cy="209296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12800" y="3687449"/>
            <a:ext cx="10566400" cy="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7824"/>
          <a:ext cx="10551160" cy="2077720"/>
        </p:xfrm>
        <a:graphic>
          <a:graphicData uri="http://schemas.openxmlformats.org/drawingml/2006/table">
            <a:tbl>
              <a:tblPr/>
              <a:tblGrid>
                <a:gridCol w="2321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Fonte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Conteúdo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Acesso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ComexStat/MDIC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Importações mensais por NCM (3102 nitrogenados, 3104 potássicos, 3105 NPK/MAP) e país: valor FOB e peso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 pública; já baixado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Banco Mundial, Pink Sheet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Preços internacionais mensais: ureia, DAP, cloreto de potássio, gás natural, petróleo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Planilha pública; já baixado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Caldara e Iacoviello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Índice de risco geopolítico (GPR), global e por país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Download público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Banco Central (SGS)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Câmbio R$/US$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 pública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2800" y="3893821"/>
            <a:ext cx="2527300" cy="855980"/>
          </a:xfrm>
          <a:prstGeom prst="roundRect">
            <a:avLst>
              <a:gd name="adj" fmla="val 11869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990600" y="4071621"/>
            <a:ext cx="22368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Unidade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90600" y="4323079"/>
            <a:ext cx="2236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Grupo × mês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92500" y="3893821"/>
            <a:ext cx="2527300" cy="855980"/>
          </a:xfrm>
          <a:prstGeom prst="roundRect">
            <a:avLst>
              <a:gd name="adj" fmla="val 11869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670300" y="4071621"/>
            <a:ext cx="22368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Período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70300" y="4323079"/>
            <a:ext cx="2236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jan/1997–ago/2026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72200" y="3893821"/>
            <a:ext cx="2527300" cy="855980"/>
          </a:xfrm>
          <a:prstGeom prst="roundRect">
            <a:avLst>
              <a:gd name="adj" fmla="val 11869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350000" y="4071621"/>
            <a:ext cx="22368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Volume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50000" y="4323079"/>
            <a:ext cx="2236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356 meses × 3 séries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851900" y="3893821"/>
            <a:ext cx="2527300" cy="855980"/>
          </a:xfrm>
          <a:prstGeom prst="roundRect">
            <a:avLst>
              <a:gd name="adj" fmla="val 11869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9029700" y="4071621"/>
            <a:ext cx="22368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Dados pessoais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029700" y="4323079"/>
            <a:ext cx="2236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há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VARIÁVEIS E PONTOS DE ATENÇÃO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753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que entra no modelo, e o que pode atrapalhar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23064"/>
            <a:ext cx="5181600" cy="2943860"/>
          </a:xfrm>
          <a:prstGeom prst="roundRect">
            <a:avLst>
              <a:gd name="adj" fmla="val 3451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66800" y="1877064"/>
            <a:ext cx="481380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Variáveis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2235200"/>
            <a:ext cx="481380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Alvo:</a:t>
            </a: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preço médio de importação (US$/t) = valor FOB ÷ peso, por grupo e mês.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6800" y="2811779"/>
            <a:ext cx="481380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Preditoras: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52144" y="3157221"/>
            <a:ext cx="4720844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Defasagens do próprio preço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Preços internacionais: ureia, DAP, cloreto de potássio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Gás natural (Europa) e petróleo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Câmbio R$/US$ e índice GPR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Sazonalidade do calendário agrícola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3950" y="1629414"/>
            <a:ext cx="5168900" cy="2931160"/>
          </a:xfrm>
          <a:prstGeom prst="roundRect">
            <a:avLst>
              <a:gd name="adj" fmla="val 325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61760" y="1887221"/>
            <a:ext cx="479287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96A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Pontos de atenção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47104" y="2245364"/>
            <a:ext cx="4699914" cy="164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preço médio mistura produtos e origens: mudanças de composição alteram o preço.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Série curta (356 meses) limita modelos complexos.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Quebras estruturais: 2008, 2022, 2026.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vazamento: só informação disponível na data da previsão.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ComexStat revisa os meses mais recentes.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PLANO DE ANÁLISE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753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Do download ao uso na decisão de compra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48464"/>
            <a:ext cx="1422400" cy="1506220"/>
          </a:xfrm>
          <a:prstGeom prst="roundRect">
            <a:avLst>
              <a:gd name="adj" fmla="val 6250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39800" y="180086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9800" y="2113279"/>
            <a:ext cx="1219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Coleta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9800" y="2407921"/>
            <a:ext cx="12192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APIs e planilhas, script versionado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6800" y="1648464"/>
            <a:ext cx="1422400" cy="1506220"/>
          </a:xfrm>
          <a:prstGeom prst="roundRect">
            <a:avLst>
              <a:gd name="adj" fmla="val 6250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463800" y="180086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3800" y="2113279"/>
            <a:ext cx="1219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Exploração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3800" y="2407921"/>
            <a:ext cx="12192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tendência, defasagens, sazonalidade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60800" y="1648464"/>
            <a:ext cx="1422400" cy="1506220"/>
          </a:xfrm>
          <a:prstGeom prst="roundRect">
            <a:avLst>
              <a:gd name="adj" fmla="val 6250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987800" y="180086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87800" y="2113279"/>
            <a:ext cx="1219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Preparação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87800" y="2407921"/>
            <a:ext cx="12192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log, defasagens, janelas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84800" y="1648464"/>
            <a:ext cx="1422400" cy="1506220"/>
          </a:xfrm>
          <a:prstGeom prst="roundRect">
            <a:avLst>
              <a:gd name="adj" fmla="val 6250"/>
            </a:avLst>
          </a:prstGeom>
          <a:solidFill>
            <a:srgbClr val="2D6FB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511800" y="180086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11800" y="2113279"/>
            <a:ext cx="1219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11800" y="2407921"/>
            <a:ext cx="12192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AF1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SARIMAX, LASSO, XGBoost, LSTM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8800" y="1648464"/>
            <a:ext cx="1422400" cy="1506220"/>
          </a:xfrm>
          <a:prstGeom prst="roundRect">
            <a:avLst>
              <a:gd name="adj" fmla="val 6250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035800" y="180086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35800" y="2113279"/>
            <a:ext cx="1219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Validação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35800" y="2407921"/>
            <a:ext cx="12192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origem móvel, h = 1, 2, 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32800" y="1648464"/>
            <a:ext cx="1422400" cy="1506220"/>
          </a:xfrm>
          <a:prstGeom prst="roundRect">
            <a:avLst>
              <a:gd name="adj" fmla="val 6250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559800" y="180086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59800" y="2113279"/>
            <a:ext cx="1219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59800" y="2407921"/>
            <a:ext cx="12192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erros, teste DM, choques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56800" y="1648464"/>
            <a:ext cx="1422400" cy="1506220"/>
          </a:xfrm>
          <a:prstGeom prst="roundRect">
            <a:avLst>
              <a:gd name="adj" fmla="val 6250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0083800" y="180086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83800" y="2113279"/>
            <a:ext cx="1219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Discussão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83800" y="2407921"/>
            <a:ext cx="121920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uso na compra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2800" y="3408679"/>
            <a:ext cx="531088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Baselines:</a:t>
            </a: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ingênuo (último valor), ingênuo sazonal e SARIMA. Todo modelo precisa superá-los para ser útil.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23000" y="3408679"/>
            <a:ext cx="531088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Modelos candidatos:</a:t>
            </a: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SARIMAX com exógenas defasadas, LASSO/Elastic Net, gradient boosting (XGBoost/LightGBM) e LSTM como comparação.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2800" y="435610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pergunta é preditiva, e o método decorre dela: o critério é o erro fora da amostra, e não a significância dos coeficientes. Ferramentas: Python (statsmodels, scikit-learn, xgboost, PyTorch, shap), Git e Quarto.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AVALIAÇÃO E RESULTADOS ESPERADOS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753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Validação que imita o uso real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64"/>
            <a:ext cx="528472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Origem móvel (rolling-origin)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1968500"/>
            <a:ext cx="1905000" cy="228600"/>
          </a:xfrm>
          <a:prstGeom prst="roundRect">
            <a:avLst>
              <a:gd name="adj" fmla="val 16667"/>
            </a:avLst>
          </a:prstGeom>
          <a:solidFill>
            <a:srgbClr val="2D6FB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0" y="1968500"/>
            <a:ext cx="571500" cy="228600"/>
          </a:xfrm>
          <a:prstGeom prst="roundRect">
            <a:avLst>
              <a:gd name="adj" fmla="val 16667"/>
            </a:avLst>
          </a:prstGeom>
          <a:solidFill>
            <a:srgbClr val="C96A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12800" y="2298700"/>
            <a:ext cx="2286000" cy="228600"/>
          </a:xfrm>
          <a:prstGeom prst="roundRect">
            <a:avLst>
              <a:gd name="adj" fmla="val 16667"/>
            </a:avLst>
          </a:prstGeom>
          <a:solidFill>
            <a:srgbClr val="2D6FB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124200" y="2298700"/>
            <a:ext cx="571500" cy="228600"/>
          </a:xfrm>
          <a:prstGeom prst="roundRect">
            <a:avLst>
              <a:gd name="adj" fmla="val 16667"/>
            </a:avLst>
          </a:prstGeom>
          <a:solidFill>
            <a:srgbClr val="C96A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12800" y="2628900"/>
            <a:ext cx="2667000" cy="228600"/>
          </a:xfrm>
          <a:prstGeom prst="roundRect">
            <a:avLst>
              <a:gd name="adj" fmla="val 16667"/>
            </a:avLst>
          </a:prstGeom>
          <a:solidFill>
            <a:srgbClr val="2D6FB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505200" y="2628900"/>
            <a:ext cx="571500" cy="228600"/>
          </a:xfrm>
          <a:prstGeom prst="roundRect">
            <a:avLst>
              <a:gd name="adj" fmla="val 16667"/>
            </a:avLst>
          </a:prstGeom>
          <a:solidFill>
            <a:srgbClr val="C96A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12800" y="2959100"/>
            <a:ext cx="3048000" cy="228600"/>
          </a:xfrm>
          <a:prstGeom prst="roundRect">
            <a:avLst>
              <a:gd name="adj" fmla="val 16667"/>
            </a:avLst>
          </a:prstGeom>
          <a:solidFill>
            <a:srgbClr val="2D6FB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886200" y="2959100"/>
            <a:ext cx="571500" cy="228600"/>
          </a:xfrm>
          <a:prstGeom prst="roundRect">
            <a:avLst>
              <a:gd name="adj" fmla="val 16667"/>
            </a:avLst>
          </a:prstGeom>
          <a:solidFill>
            <a:srgbClr val="C96A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12800" y="3332479"/>
            <a:ext cx="203200" cy="127000"/>
          </a:xfrm>
          <a:prstGeom prst="roundRect">
            <a:avLst>
              <a:gd name="adj" fmla="val 20000"/>
            </a:avLst>
          </a:prstGeom>
          <a:solidFill>
            <a:srgbClr val="2D6FB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168400" y="3289300"/>
            <a:ext cx="14752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Treino (até o mês 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43664" y="3332479"/>
            <a:ext cx="203200" cy="12700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999264" y="3289300"/>
            <a:ext cx="13617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 (t+1 a t+3)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3604264"/>
            <a:ext cx="52847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Métricas:</a:t>
            </a: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MAE, RMSE e MAPE por horizonte; teste de Diebold–Mariano; recorte dos choques de 2021–2022 e 2026.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48400" y="1623064"/>
            <a:ext cx="5130800" cy="1701800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77000" y="1851664"/>
            <a:ext cx="481380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Critério de sucesso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7000" y="2171700"/>
            <a:ext cx="4813808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 menor que o do baseline ingênuo em pelo menos um horizonte, com diferença estatisticamente significativa. Se nenhum modelo superar o ingênuo, esse será o resultado relatado.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99200" y="3477264"/>
            <a:ext cx="51800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Produtos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84544" y="3797300"/>
            <a:ext cx="5087112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Tabela comparativa de modelos e horizontes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Previsto × realizado nos choques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Painel simples de acompanhamento mensal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Repositório que reproduz tudo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LIMITAÇÕES E RISCOS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753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Riscos conhecidos e como serão tratados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76025" y="1597664"/>
            <a:ext cx="0" cy="220980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12800" y="3804289"/>
            <a:ext cx="10566400" cy="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7824"/>
          <a:ext cx="10551160" cy="2194560"/>
        </p:xfrm>
        <a:graphic>
          <a:graphicData uri="http://schemas.openxmlformats.org/drawingml/2006/table">
            <a:tbl>
              <a:tblPr/>
              <a:tblGrid>
                <a:gridCol w="295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Limitação ou risco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Consequência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Como será tratado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Série curta (356 meses)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Redes neurais tendem a sobreajustar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Regularização; baselines simples; reportar o resultado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Choques raros e diferentes entre si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Poucos exemplos de crise para aprender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Avaliar o desempenho nos choques separadamente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Preço médio FOB agregado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Mudança de produto ou origem altera o preço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Robustez com NCM específicas (ureia, cloreto de potássio)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Previsão não é causalidade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Importância de variável não mede efeito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Ler SHAP só como contribuição preditiva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Revisões e atrasos dos dados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último mês pode mudar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Usar só a informação disponível na data da previsão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4010664"/>
            <a:ext cx="10464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principal limite é estatístico: poucos meses e poucos choques. O risco de execução é baixo, porque os dados já estão disponíveis.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D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CRONOGRAMA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753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Dez semanas, três entregas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76025" y="1597664"/>
            <a:ext cx="0" cy="298704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12800" y="4581529"/>
            <a:ext cx="10566400" cy="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7824"/>
          <a:ext cx="10551158" cy="2971800"/>
        </p:xfrm>
        <a:graphic>
          <a:graphicData uri="http://schemas.openxmlformats.org/drawingml/2006/table">
            <a:tbl>
              <a:tblPr/>
              <a:tblGrid>
                <a:gridCol w="3449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0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0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01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01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01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01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01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01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Etapa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Coleta e organização dos dados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D6FB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D6FB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Análise exploratória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D6FB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96A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◆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Leituras e referencial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D6FB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D6FB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D6FB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Modelagem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D6FB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D6FB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D6FB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Validação e robustez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D6FB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D6FB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Redação: dados e metodologia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D6FB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D6FB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Redação: resultados e discussão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D6FB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96A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◆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Revisão e normalização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D6FB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96A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◆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4787900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6A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◆</a:t>
            </a: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Entregas: relatório de viabilidade dos dados (semana 3), versão para qualificação (semana 8) e versão final (semana 10). Semanas contadas a partir do início da orientação.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6A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TEMA ALTERNATIVO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753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Pé-de-Meia e abandono escolar no ensino médio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76025" y="1597658"/>
            <a:ext cx="0" cy="308356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12800" y="4678043"/>
            <a:ext cx="10566400" cy="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7818"/>
          <a:ext cx="10551160" cy="3068320"/>
        </p:xfrm>
        <a:graphic>
          <a:graphicData uri="http://schemas.openxmlformats.org/drawingml/2006/table">
            <a:tbl>
              <a:tblPr/>
              <a:tblGrid>
                <a:gridCol w="2321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Elemento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Definição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Pergunta (causal)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Pé-de-Meia (Lei 14.818/2024) reduziu o abandono no ensino médio público, e o efeito é maior onde há mais estudantes elegíveis?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Tratamento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Intensidade de exposição municipal medida antes de 2024 (proporção de famílias elegíveis no CadÚnico)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Desfecho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Taxa de abandono no ensino médio da rede pública, por município (INEP)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Método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Diferença-em-diferenças com tratamento contínuo e estudo de evento (2015 em diante)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Dados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INEP (taxas de rendimento e Censo Escolar), Portal da Transparência (pagamentos por município e mês), CadÚnico agregado: todos públicos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Decisão apoiada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Continuidade e focalização do programa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Riscos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Novo Ensino Médio e pós-pandemia ao mesmo tempo; poucos anos após o início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i="0" dirty="0">
                <a:solidFill>
                  <a:srgbClr val="1F2D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Referências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2800" y="1122685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BANCO MUNDIAL. </a:t>
            </a:r>
            <a:r>
              <a:rPr lang="en-US" sz="1200" i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Commodity markets: Pink Sheet, monthly prices</a:t>
            </a: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Washington, DC, 2026. Disponível em: worldbank.org/en/research/commodity-markets.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783085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BRASIL. Ministério do Desenvolvimento, Indústria, Comércio e Serviços. </a:t>
            </a:r>
            <a:r>
              <a:rPr lang="en-US" sz="1200" i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Comex Stat</a:t>
            </a: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Brasília, 2026. Disponível em: comexstat.mdic.gov.br.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252985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CALDARA, D.; IACOVIELLO, M. Measuring geopolitical risk. </a:t>
            </a:r>
            <a:r>
              <a:rPr lang="en-US" sz="1200" i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American Economic Review</a:t>
            </a: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112, n. 4, p. 1194-1225, 2022.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722885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COLUSSI, J.; LANGEMEIER, M. Middle East conflict revives concerns over fertilizer dependence in the U.S. and Brazil. </a:t>
            </a:r>
            <a:r>
              <a:rPr lang="en-US" sz="1200" i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farmdoc daily</a:t>
            </a: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16, n. 68, 2026.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383285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COLUSSI, J.; SCHNITKEY, G.; ZULAUF, C. War in Ukraine and its effect on fertilizer exports to Brazil and the U.S. </a:t>
            </a:r>
            <a:r>
              <a:rPr lang="en-US" sz="1200" i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farmdoc daily</a:t>
            </a: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17 mar. 2022.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3853185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DIEBOLD, F. X.; MARIANO, R. S. Comparing predictive accuracy. </a:t>
            </a:r>
            <a:r>
              <a:rPr lang="en-US" sz="1200" i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Journal of Business &amp; Economic Statistics</a:t>
            </a: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13, n. 3, p. 253-263, 1995.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48400" y="1122685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GRINSZTAJN, L.; OYALLON, E.; VAROQUAUX, G. Why do tree-based models still outperform deep learning on typical tabular data? In: </a:t>
            </a:r>
            <a:r>
              <a:rPr lang="en-US" sz="1200" i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NeurIPS 2022, Datasets and Benchmarks Track</a:t>
            </a: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2022.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48400" y="1783085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HU, Z.; HUANG, J.; YAN, L.; YUAN, J. Deconstructing urea fertilizer price spikes: the role of supply-demand, speculation, and energy prices. In: </a:t>
            </a:r>
            <a:r>
              <a:rPr lang="en-US" sz="1200" i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AAEA Annual Meeting</a:t>
            </a: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Washington, DC, 2023.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8400" y="2443485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HYNDMAN, R. J.; ATHANASOPOULOS, G. </a:t>
            </a:r>
            <a:r>
              <a:rPr lang="en-US" sz="1200" i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Forecasting: principles and practice</a:t>
            </a: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3. ed. Melbourne: OTexts, 2021.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48400" y="2913385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KIM, S.-W.; BRORSEN, B. W. Forecasting urea prices. </a:t>
            </a:r>
            <a:r>
              <a:rPr lang="en-US" sz="1200" i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Applied Economics</a:t>
            </a: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49, n. 49, p. 4970-4981, 2017.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8400" y="3383285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MAKRIDAKIS, S.; SPILIOTIS, E.; ASSIMAKOPOULOS, V. Statistical and machine learning forecasting methods: concerns and ways forward. </a:t>
            </a:r>
            <a:r>
              <a:rPr lang="en-US" sz="1200" i="1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PLOS ONE</a:t>
            </a:r>
            <a:r>
              <a:rPr lang="en-US" sz="1200" dirty="0">
                <a:solidFill>
                  <a:srgbClr val="1F2D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13, n. 3, e0194889, 2018.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é-projeto TCC – Previsão do preço de fertilizantes">
  <a:themeElements>
    <a:clrScheme name="Pré-projeto TCC – Previsão do preço de fertilizantes">
      <a:dk1>
        <a:srgbClr val="1F2D3D"/>
      </a:dk1>
      <a:lt1>
        <a:srgbClr val="FFFFFF"/>
      </a:lt1>
      <a:dk2>
        <a:srgbClr val="57626E"/>
      </a:dk2>
      <a:lt2>
        <a:srgbClr val="E9EAEC"/>
      </a:lt2>
      <a:accent1>
        <a:srgbClr val="2D6FB5"/>
      </a:accent1>
      <a:accent2>
        <a:srgbClr val="C96A1B"/>
      </a:accent2>
      <a:accent3>
        <a:srgbClr val="6B7785"/>
      </a:accent3>
      <a:accent4>
        <a:srgbClr val="4A5868"/>
      </a:accent4>
      <a:accent5>
        <a:srgbClr val="9AA0A6"/>
      </a:accent5>
      <a:accent6>
        <a:srgbClr val="79818B"/>
      </a:accent6>
      <a:hlink>
        <a:srgbClr val="0563C1"/>
      </a:hlink>
      <a:folHlink>
        <a:srgbClr val="954F72"/>
      </a:folHlink>
    </a:clrScheme>
    <a:fontScheme name="Pré-projeto TCC – Previsão do preço de fertilizantes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4197</Words>
  <Application>Microsoft Office PowerPoint</Application>
  <PresentationFormat>Widescreen</PresentationFormat>
  <Paragraphs>364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IBM Plex Sans</vt:lpstr>
      <vt:lpstr>Source Serif 4</vt:lpstr>
      <vt:lpstr>Pré-projeto TCC – Previsão do preço de fertilizantes</vt:lpstr>
      <vt:lpstr>Previsão do preço de importação de fertilizantes no Brasil</vt:lpstr>
      <vt:lpstr>Um projeto preditivo, com dados públicos</vt:lpstr>
      <vt:lpstr>O agro brasileiro depende de fertilizante importado</vt:lpstr>
      <vt:lpstr>Os choques chegam ao preço que o Brasil paga</vt:lpstr>
      <vt:lpstr>A compra é decidida meses antes, sem previsão</vt:lpstr>
      <vt:lpstr>Apresentação do PowerPoint</vt:lpstr>
      <vt:lpstr>Prever, comparar e testar nos choques</vt:lpstr>
      <vt:lpstr>A previsão apoia uma decisão de momento de compra</vt:lpstr>
      <vt:lpstr>O que a literatura oferece ao projeto</vt:lpstr>
      <vt:lpstr>Quatro fontes públicas, já acessíveis</vt:lpstr>
      <vt:lpstr>O que entra no modelo, e o que pode atrapalhar</vt:lpstr>
      <vt:lpstr>Do download ao uso na decisão de compra</vt:lpstr>
      <vt:lpstr>Validação que imita o uso real</vt:lpstr>
      <vt:lpstr>Riscos conhecidos e como serão tratados</vt:lpstr>
      <vt:lpstr>Dez semanas, três entregas</vt:lpstr>
      <vt:lpstr>Pé-de-Meia e abandono escolar no ensino médio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Pré-projeto TCC – Previsão do preço de fertilizantes</dc:title>
  <dc:subject/>
  <dc:creator/>
  <cp:lastModifiedBy>Gladson Rabelo Freitas</cp:lastModifiedBy>
  <cp:revision>3</cp:revision>
  <dcterms:created xsi:type="dcterms:W3CDTF">2026-10-09T22:46:51Z</dcterms:created>
  <dcterms:modified xsi:type="dcterms:W3CDTF">2026-10-10T12:35:33Z</dcterms:modified>
</cp:coreProperties>
</file>